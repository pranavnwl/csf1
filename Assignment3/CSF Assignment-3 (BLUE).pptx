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Cinzel Decorative Bold" charset="1" panose="00000800000000000000"/>
      <p:regular r:id="rId15"/>
    </p:embeddedFont>
    <p:embeddedFont>
      <p:font typeface="Cinzel Decorative" charset="1" panose="00000500000000000000"/>
      <p:regular r:id="rId16"/>
    </p:embeddedFont>
    <p:embeddedFont>
      <p:font typeface="Circe Contrast" charset="1" panose="020C0503080504020303"/>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21111" t="0" r="-21111" b="0"/>
            </a:stretch>
          </a:blipFill>
        </p:spPr>
      </p:sp>
      <p:grpSp>
        <p:nvGrpSpPr>
          <p:cNvPr name="Group 3" id="3"/>
          <p:cNvGrpSpPr/>
          <p:nvPr/>
        </p:nvGrpSpPr>
        <p:grpSpPr>
          <a:xfrm rot="0">
            <a:off x="858872" y="3326067"/>
            <a:ext cx="16570257" cy="4031175"/>
            <a:chOff x="0" y="0"/>
            <a:chExt cx="18288000" cy="4449064"/>
          </a:xfrm>
        </p:grpSpPr>
        <p:sp>
          <p:nvSpPr>
            <p:cNvPr name="Freeform 4" id="4"/>
            <p:cNvSpPr/>
            <p:nvPr/>
          </p:nvSpPr>
          <p:spPr>
            <a:xfrm flipH="false" flipV="false" rot="0">
              <a:off x="0" y="0"/>
              <a:ext cx="18288000" cy="4449064"/>
            </a:xfrm>
            <a:custGeom>
              <a:avLst/>
              <a:gdLst/>
              <a:ahLst/>
              <a:cxnLst/>
              <a:rect r="r" b="b" t="t" l="l"/>
              <a:pathLst>
                <a:path h="4449064" w="18288000">
                  <a:moveTo>
                    <a:pt x="0" y="0"/>
                  </a:moveTo>
                  <a:lnTo>
                    <a:pt x="18288000" y="0"/>
                  </a:lnTo>
                  <a:lnTo>
                    <a:pt x="18288000" y="4449064"/>
                  </a:lnTo>
                  <a:lnTo>
                    <a:pt x="0" y="4449064"/>
                  </a:lnTo>
                  <a:close/>
                </a:path>
              </a:pathLst>
            </a:custGeom>
            <a:solidFill>
              <a:srgbClr val="000000">
                <a:alpha val="0"/>
              </a:srgbClr>
            </a:solidFill>
          </p:spPr>
        </p:sp>
        <p:sp>
          <p:nvSpPr>
            <p:cNvPr name="TextBox 5" id="5"/>
            <p:cNvSpPr txBox="true"/>
            <p:nvPr/>
          </p:nvSpPr>
          <p:spPr>
            <a:xfrm>
              <a:off x="0" y="66675"/>
              <a:ext cx="18288000" cy="4382389"/>
            </a:xfrm>
            <a:prstGeom prst="rect">
              <a:avLst/>
            </a:prstGeom>
          </p:spPr>
          <p:txBody>
            <a:bodyPr anchor="b" rtlCol="false" tIns="0" lIns="0" bIns="0" rIns="0"/>
            <a:lstStyle/>
            <a:p>
              <a:pPr algn="ctr">
                <a:lnSpc>
                  <a:spcPts val="6803"/>
                </a:lnSpc>
              </a:pPr>
              <a:r>
                <a:rPr lang="en-US" b="true" sz="6299" spc="-38">
                  <a:solidFill>
                    <a:srgbClr val="1800AD"/>
                  </a:solidFill>
                  <a:latin typeface="Cinzel Decorative Bold"/>
                  <a:ea typeface="Cinzel Decorative Bold"/>
                  <a:cs typeface="Cinzel Decorative Bold"/>
                  <a:sym typeface="Cinzel Decorative Bold"/>
                </a:rPr>
                <a:t>Computer Science Fundamental</a:t>
              </a:r>
            </a:p>
            <a:p>
              <a:pPr algn="ctr">
                <a:lnSpc>
                  <a:spcPts val="6803"/>
                </a:lnSpc>
              </a:pPr>
              <a:r>
                <a:rPr lang="en-US" b="true" sz="6299" spc="-38">
                  <a:solidFill>
                    <a:srgbClr val="1800AD"/>
                  </a:solidFill>
                  <a:latin typeface="Cinzel Decorative Bold"/>
                  <a:ea typeface="Cinzel Decorative Bold"/>
                  <a:cs typeface="Cinzel Decorative Bold"/>
                  <a:sym typeface="Cinzel Decorative Bold"/>
                </a:rPr>
                <a:t>Assignment - 3</a:t>
              </a:r>
            </a:p>
            <a:p>
              <a:pPr algn="ctr">
                <a:lnSpc>
                  <a:spcPts val="6803"/>
                </a:lnSpc>
              </a:pPr>
            </a:p>
            <a:p>
              <a:pPr algn="ctr">
                <a:lnSpc>
                  <a:spcPts val="6803"/>
                </a:lnSpc>
              </a:pPr>
            </a:p>
          </p:txBody>
        </p:sp>
      </p:grpSp>
      <p:sp>
        <p:nvSpPr>
          <p:cNvPr name="Freeform 6" id="6"/>
          <p:cNvSpPr/>
          <p:nvPr/>
        </p:nvSpPr>
        <p:spPr>
          <a:xfrm flipH="false" flipV="false" rot="0">
            <a:off x="7832641" y="827915"/>
            <a:ext cx="2622718" cy="2498152"/>
          </a:xfrm>
          <a:custGeom>
            <a:avLst/>
            <a:gdLst/>
            <a:ahLst/>
            <a:cxnLst/>
            <a:rect r="r" b="b" t="t" l="l"/>
            <a:pathLst>
              <a:path h="2498152" w="2622718">
                <a:moveTo>
                  <a:pt x="0" y="0"/>
                </a:moveTo>
                <a:lnTo>
                  <a:pt x="2622718" y="0"/>
                </a:lnTo>
                <a:lnTo>
                  <a:pt x="2622718" y="2498152"/>
                </a:lnTo>
                <a:lnTo>
                  <a:pt x="0" y="2498152"/>
                </a:lnTo>
                <a:lnTo>
                  <a:pt x="0" y="0"/>
                </a:lnTo>
                <a:close/>
              </a:path>
            </a:pathLst>
          </a:custGeom>
          <a:blipFill>
            <a:blip r:embed="rId3"/>
            <a:stretch>
              <a:fillRect l="0" t="0" r="-412073" b="0"/>
            </a:stretch>
          </a:blipFill>
        </p:spPr>
      </p:sp>
      <p:sp>
        <p:nvSpPr>
          <p:cNvPr name="TextBox 7" id="7"/>
          <p:cNvSpPr txBox="true"/>
          <p:nvPr/>
        </p:nvSpPr>
        <p:spPr>
          <a:xfrm rot="0">
            <a:off x="4452171" y="6686266"/>
            <a:ext cx="9383657" cy="3206596"/>
          </a:xfrm>
          <a:prstGeom prst="rect">
            <a:avLst/>
          </a:prstGeom>
        </p:spPr>
        <p:txBody>
          <a:bodyPr anchor="t" rtlCol="false" tIns="0" lIns="0" bIns="0" rIns="0">
            <a:spAutoFit/>
          </a:bodyPr>
          <a:lstStyle/>
          <a:p>
            <a:pPr algn="ctr" marL="706037" indent="-353018" lvl="1">
              <a:lnSpc>
                <a:spcPts val="2825"/>
              </a:lnSpc>
              <a:buFont typeface="Arial"/>
              <a:buChar char="•"/>
            </a:pPr>
            <a:r>
              <a:rPr lang="en-US" b="true" sz="3270" u="sng">
                <a:solidFill>
                  <a:srgbClr val="004AAD"/>
                </a:solidFill>
                <a:latin typeface="Cinzel Decorative Bold"/>
                <a:ea typeface="Cinzel Decorative Bold"/>
                <a:cs typeface="Cinzel Decorative Bold"/>
                <a:sym typeface="Cinzel Decorative Bold"/>
              </a:rPr>
              <a:t>Submitted </a:t>
            </a:r>
            <a:r>
              <a:rPr lang="en-US" b="true" sz="3270" u="sng">
                <a:solidFill>
                  <a:srgbClr val="004AAD"/>
                </a:solidFill>
                <a:latin typeface="Cinzel Decorative Bold"/>
                <a:ea typeface="Cinzel Decorative Bold"/>
                <a:cs typeface="Cinzel Decorative Bold"/>
                <a:sym typeface="Cinzel Decorative Bold"/>
              </a:rPr>
              <a:t>By:</a:t>
            </a:r>
            <a:r>
              <a:rPr lang="en-US" b="true" sz="3270">
                <a:solidFill>
                  <a:srgbClr val="004AAD"/>
                </a:solidFill>
                <a:latin typeface="Cinzel Decorative Bold"/>
                <a:ea typeface="Cinzel Decorative Bold"/>
                <a:cs typeface="Cinzel Decorative Bold"/>
                <a:sym typeface="Cinzel Decorative Bold"/>
              </a:rPr>
              <a:t> </a:t>
            </a:r>
            <a:r>
              <a:rPr lang="en-US" sz="3270">
                <a:solidFill>
                  <a:srgbClr val="004AAD"/>
                </a:solidFill>
                <a:latin typeface="Cinzel Decorative"/>
                <a:ea typeface="Cinzel Decorative"/>
                <a:cs typeface="Cinzel Decorative"/>
                <a:sym typeface="Cinzel Decorative"/>
              </a:rPr>
              <a:t>Pranav Nailwal</a:t>
            </a:r>
          </a:p>
          <a:p>
            <a:pPr algn="ctr">
              <a:lnSpc>
                <a:spcPts val="2825"/>
              </a:lnSpc>
            </a:pPr>
          </a:p>
          <a:p>
            <a:pPr algn="ctr" marL="706037" indent="-353018" lvl="1">
              <a:lnSpc>
                <a:spcPts val="2825"/>
              </a:lnSpc>
              <a:buFont typeface="Arial"/>
              <a:buChar char="•"/>
            </a:pPr>
            <a:r>
              <a:rPr lang="en-US" b="true" sz="3270" u="sng">
                <a:solidFill>
                  <a:srgbClr val="004AAD"/>
                </a:solidFill>
                <a:latin typeface="Cinzel Decorative Bold"/>
                <a:ea typeface="Cinzel Decorative Bold"/>
                <a:cs typeface="Cinzel Decorative Bold"/>
                <a:sym typeface="Cinzel Decorative Bold"/>
              </a:rPr>
              <a:t>SUBMITTED TO:</a:t>
            </a:r>
            <a:r>
              <a:rPr lang="en-US" b="true" sz="3270">
                <a:solidFill>
                  <a:srgbClr val="004AAD"/>
                </a:solidFill>
                <a:latin typeface="Cinzel Decorative Bold"/>
                <a:ea typeface="Cinzel Decorative Bold"/>
                <a:cs typeface="Cinzel Decorative Bold"/>
                <a:sym typeface="Cinzel Decorative Bold"/>
              </a:rPr>
              <a:t> </a:t>
            </a:r>
            <a:r>
              <a:rPr lang="en-US" sz="3270">
                <a:solidFill>
                  <a:srgbClr val="004AAD"/>
                </a:solidFill>
                <a:latin typeface="Cinzel Decorative"/>
                <a:ea typeface="Cinzel Decorative"/>
                <a:cs typeface="Cinzel Decorative"/>
                <a:sym typeface="Cinzel Decorative"/>
              </a:rPr>
              <a:t>Mr. aryan sharma</a:t>
            </a:r>
          </a:p>
          <a:p>
            <a:pPr algn="ctr">
              <a:lnSpc>
                <a:spcPts val="2825"/>
              </a:lnSpc>
            </a:pPr>
          </a:p>
          <a:p>
            <a:pPr algn="ctr" marL="706037" indent="-353018" lvl="1">
              <a:lnSpc>
                <a:spcPts val="2825"/>
              </a:lnSpc>
              <a:buFont typeface="Arial"/>
              <a:buChar char="•"/>
            </a:pPr>
            <a:r>
              <a:rPr lang="en-US" b="true" sz="3270" u="sng">
                <a:solidFill>
                  <a:srgbClr val="004AAD"/>
                </a:solidFill>
                <a:latin typeface="Cinzel Decorative Bold"/>
                <a:ea typeface="Cinzel Decorative Bold"/>
                <a:cs typeface="Cinzel Decorative Bold"/>
                <a:sym typeface="Cinzel Decorative Bold"/>
              </a:rPr>
              <a:t>Roll No:</a:t>
            </a:r>
            <a:r>
              <a:rPr lang="en-US" b="true" sz="3270">
                <a:solidFill>
                  <a:srgbClr val="004AAD"/>
                </a:solidFill>
                <a:latin typeface="Cinzel Decorative Bold"/>
                <a:ea typeface="Cinzel Decorative Bold"/>
                <a:cs typeface="Cinzel Decorative Bold"/>
                <a:sym typeface="Cinzel Decorative Bold"/>
              </a:rPr>
              <a:t> </a:t>
            </a:r>
            <a:r>
              <a:rPr lang="en-US" sz="3270">
                <a:solidFill>
                  <a:srgbClr val="004AAD"/>
                </a:solidFill>
                <a:latin typeface="Cinzel Decorative"/>
                <a:ea typeface="Cinzel Decorative"/>
                <a:cs typeface="Cinzel Decorative"/>
                <a:sym typeface="Cinzel Decorative"/>
              </a:rPr>
              <a:t>2501730094</a:t>
            </a:r>
          </a:p>
          <a:p>
            <a:pPr algn="ctr">
              <a:lnSpc>
                <a:spcPts val="2825"/>
              </a:lnSpc>
            </a:pPr>
          </a:p>
          <a:p>
            <a:pPr algn="ctr" marL="706037" indent="-353018" lvl="1">
              <a:lnSpc>
                <a:spcPts val="2825"/>
              </a:lnSpc>
              <a:buFont typeface="Arial"/>
              <a:buChar char="•"/>
            </a:pPr>
            <a:r>
              <a:rPr lang="en-US" b="true" sz="3270" u="sng">
                <a:solidFill>
                  <a:srgbClr val="004AAD"/>
                </a:solidFill>
                <a:latin typeface="Cinzel Decorative Bold"/>
                <a:ea typeface="Cinzel Decorative Bold"/>
                <a:cs typeface="Cinzel Decorative Bold"/>
                <a:sym typeface="Cinzel Decorative Bold"/>
              </a:rPr>
              <a:t>Course:</a:t>
            </a:r>
            <a:r>
              <a:rPr lang="en-US" b="true" sz="3270">
                <a:solidFill>
                  <a:srgbClr val="004AAD"/>
                </a:solidFill>
                <a:latin typeface="Cinzel Decorative Bold"/>
                <a:ea typeface="Cinzel Decorative Bold"/>
                <a:cs typeface="Cinzel Decorative Bold"/>
                <a:sym typeface="Cinzel Decorative Bold"/>
              </a:rPr>
              <a:t> </a:t>
            </a:r>
            <a:r>
              <a:rPr lang="en-US" sz="3270">
                <a:solidFill>
                  <a:srgbClr val="004AAD"/>
                </a:solidFill>
                <a:latin typeface="Cinzel Decorative"/>
                <a:ea typeface="Cinzel Decorative"/>
                <a:cs typeface="Cinzel Decorative"/>
                <a:sym typeface="Cinzel Decorative"/>
              </a:rPr>
              <a:t>B.Tech CSE (AI&amp;ML)</a:t>
            </a:r>
          </a:p>
          <a:p>
            <a:pPr algn="ctr">
              <a:lnSpc>
                <a:spcPts val="2825"/>
              </a:lnSpc>
            </a:pPr>
          </a:p>
          <a:p>
            <a:pPr algn="ctr" marL="706037" indent="-353018" lvl="1">
              <a:lnSpc>
                <a:spcPts val="2825"/>
              </a:lnSpc>
              <a:buFont typeface="Arial"/>
              <a:buChar char="•"/>
            </a:pPr>
            <a:r>
              <a:rPr lang="en-US" b="true" sz="3270" u="sng">
                <a:solidFill>
                  <a:srgbClr val="004AAD"/>
                </a:solidFill>
                <a:latin typeface="Cinzel Decorative Bold"/>
                <a:ea typeface="Cinzel Decorative Bold"/>
                <a:cs typeface="Cinzel Decorative Bold"/>
                <a:sym typeface="Cinzel Decorative Bold"/>
              </a:rPr>
              <a:t>Section:</a:t>
            </a:r>
            <a:r>
              <a:rPr lang="en-US" sz="3270">
                <a:solidFill>
                  <a:srgbClr val="004AAD"/>
                </a:solidFill>
                <a:latin typeface="Cinzel Decorative"/>
                <a:ea typeface="Cinzel Decorative"/>
                <a:cs typeface="Cinzel Decorative"/>
                <a:sym typeface="Cinzel Decorative"/>
              </a:rPr>
              <a:t> ‘B’</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21111" t="0" r="-21111" b="0"/>
            </a:stretch>
          </a:blipFill>
        </p:spPr>
      </p:sp>
      <p:grpSp>
        <p:nvGrpSpPr>
          <p:cNvPr name="Group 3" id="3"/>
          <p:cNvGrpSpPr/>
          <p:nvPr/>
        </p:nvGrpSpPr>
        <p:grpSpPr>
          <a:xfrm rot="0">
            <a:off x="1257300" y="547688"/>
            <a:ext cx="15773400" cy="1988345"/>
            <a:chOff x="0" y="0"/>
            <a:chExt cx="21031200" cy="2651126"/>
          </a:xfrm>
        </p:grpSpPr>
        <p:sp>
          <p:nvSpPr>
            <p:cNvPr name="Freeform 4" id="4"/>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solidFill>
              <a:srgbClr val="000000">
                <a:alpha val="0"/>
              </a:srgbClr>
            </a:solidFill>
          </p:spPr>
        </p:sp>
        <p:sp>
          <p:nvSpPr>
            <p:cNvPr name="TextBox 5" id="5"/>
            <p:cNvSpPr txBox="true"/>
            <p:nvPr/>
          </p:nvSpPr>
          <p:spPr>
            <a:xfrm>
              <a:off x="0" y="76200"/>
              <a:ext cx="21031200" cy="2574926"/>
            </a:xfrm>
            <a:prstGeom prst="rect">
              <a:avLst/>
            </a:prstGeom>
          </p:spPr>
          <p:txBody>
            <a:bodyPr anchor="ctr" rtlCol="false" tIns="0" lIns="0" bIns="0" rIns="0"/>
            <a:lstStyle/>
            <a:p>
              <a:pPr algn="l">
                <a:lnSpc>
                  <a:spcPts val="7128"/>
                </a:lnSpc>
              </a:pPr>
              <a:r>
                <a:rPr lang="en-US" b="true" sz="6600" spc="-40">
                  <a:solidFill>
                    <a:srgbClr val="1800AD"/>
                  </a:solidFill>
                  <a:latin typeface="Cinzel Decorative Bold"/>
                  <a:ea typeface="Cinzel Decorative Bold"/>
                  <a:cs typeface="Cinzel Decorative Bold"/>
                  <a:sym typeface="Cinzel Decorative Bold"/>
                </a:rPr>
                <a:t>Artificial Intelligence (AI)</a:t>
              </a:r>
            </a:p>
          </p:txBody>
        </p:sp>
      </p:grpSp>
      <p:sp>
        <p:nvSpPr>
          <p:cNvPr name="TextBox 6" id="6"/>
          <p:cNvSpPr txBox="true"/>
          <p:nvPr/>
        </p:nvSpPr>
        <p:spPr>
          <a:xfrm rot="0">
            <a:off x="1348740" y="2831783"/>
            <a:ext cx="15590520" cy="6302883"/>
          </a:xfrm>
          <a:prstGeom prst="rect">
            <a:avLst/>
          </a:prstGeom>
        </p:spPr>
        <p:txBody>
          <a:bodyPr anchor="t" rtlCol="false" tIns="0" lIns="0" bIns="0" rIns="0">
            <a:spAutoFit/>
          </a:bodyPr>
          <a:lstStyle/>
          <a:p>
            <a:pPr algn="l" marL="760095" indent="-380048" lvl="1">
              <a:lnSpc>
                <a:spcPts val="4536"/>
              </a:lnSpc>
              <a:buFont typeface="Arial"/>
              <a:buChar char="•"/>
            </a:pPr>
            <a:r>
              <a:rPr lang="en-US" sz="4200">
                <a:solidFill>
                  <a:srgbClr val="004AAD"/>
                </a:solidFill>
                <a:latin typeface="Circe Contrast"/>
                <a:ea typeface="Circe Contrast"/>
                <a:cs typeface="Circe Contrast"/>
                <a:sym typeface="Circe Contrast"/>
              </a:rPr>
              <a:t>Artificial Intelligence (AI) basically means making machines capable of doing tasks that normally need human thinking. These tasks include learning from data, understanding language, recognizing images, or making decisions.</a:t>
            </a:r>
          </a:p>
          <a:p>
            <a:pPr algn="l" marL="760095" indent="-380048" lvl="1">
              <a:lnSpc>
                <a:spcPts val="4536"/>
              </a:lnSpc>
              <a:buFont typeface="Arial"/>
              <a:buChar char="•"/>
            </a:pPr>
            <a:r>
              <a:rPr lang="en-US" sz="4200">
                <a:solidFill>
                  <a:srgbClr val="004AAD"/>
                </a:solidFill>
                <a:latin typeface="Circe Contrast"/>
                <a:ea typeface="Circe Contrast"/>
                <a:cs typeface="Circe Contrast"/>
                <a:sym typeface="Circe Contrast"/>
              </a:rPr>
              <a:t>AI has developed a lot over the years. In the beginning, systems only followed fixed rules. Later, machine learning and deep learning came, which helped computers learn on their own from data. Today, AI is used in almost every field and is becoming a major part of our daily lives because it helps in doing work faster and more accurately.</a:t>
            </a:r>
          </a:p>
          <a:p>
            <a:pPr algn="l" marL="760095" indent="-380048" lvl="1">
              <a:lnSpc>
                <a:spcPts val="4536"/>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21111" t="0" r="-21111" b="0"/>
            </a:stretch>
          </a:blipFill>
        </p:spPr>
      </p:sp>
      <p:grpSp>
        <p:nvGrpSpPr>
          <p:cNvPr name="Group 3" id="3"/>
          <p:cNvGrpSpPr/>
          <p:nvPr/>
        </p:nvGrpSpPr>
        <p:grpSpPr>
          <a:xfrm rot="0">
            <a:off x="1257300" y="547688"/>
            <a:ext cx="15773400" cy="1988345"/>
            <a:chOff x="0" y="0"/>
            <a:chExt cx="21031200" cy="2651126"/>
          </a:xfrm>
        </p:grpSpPr>
        <p:sp>
          <p:nvSpPr>
            <p:cNvPr name="Freeform 4" id="4"/>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solidFill>
              <a:srgbClr val="000000">
                <a:alpha val="0"/>
              </a:srgbClr>
            </a:solidFill>
          </p:spPr>
        </p:sp>
        <p:sp>
          <p:nvSpPr>
            <p:cNvPr name="TextBox 5" id="5"/>
            <p:cNvSpPr txBox="true"/>
            <p:nvPr/>
          </p:nvSpPr>
          <p:spPr>
            <a:xfrm>
              <a:off x="0" y="76200"/>
              <a:ext cx="21031200" cy="2574926"/>
            </a:xfrm>
            <a:prstGeom prst="rect">
              <a:avLst/>
            </a:prstGeom>
          </p:spPr>
          <p:txBody>
            <a:bodyPr anchor="ctr" rtlCol="false" tIns="0" lIns="0" bIns="0" rIns="0"/>
            <a:lstStyle/>
            <a:p>
              <a:pPr algn="l">
                <a:lnSpc>
                  <a:spcPts val="7128"/>
                </a:lnSpc>
              </a:pPr>
              <a:r>
                <a:rPr lang="en-US" b="true" sz="6600" spc="-40">
                  <a:solidFill>
                    <a:srgbClr val="1800AD"/>
                  </a:solidFill>
                  <a:latin typeface="Cinzel Decorative Bold"/>
                  <a:ea typeface="Cinzel Decorative Bold"/>
                  <a:cs typeface="Cinzel Decorative Bold"/>
                  <a:sym typeface="Cinzel Decorative Bold"/>
                </a:rPr>
                <a:t>Core Technologies in AI</a:t>
              </a:r>
            </a:p>
          </p:txBody>
        </p:sp>
      </p:grpSp>
      <p:sp>
        <p:nvSpPr>
          <p:cNvPr name="TextBox 6" id="6"/>
          <p:cNvSpPr txBox="true"/>
          <p:nvPr/>
        </p:nvSpPr>
        <p:spPr>
          <a:xfrm rot="0">
            <a:off x="1348740" y="2629377"/>
            <a:ext cx="15590520" cy="6322314"/>
          </a:xfrm>
          <a:prstGeom prst="rect">
            <a:avLst/>
          </a:prstGeom>
        </p:spPr>
        <p:txBody>
          <a:bodyPr anchor="t" rtlCol="false" tIns="0" lIns="0" bIns="0" rIns="0">
            <a:spAutoFit/>
          </a:bodyPr>
          <a:lstStyle/>
          <a:p>
            <a:pPr algn="l" marL="651510" indent="-325755" lvl="1">
              <a:lnSpc>
                <a:spcPts val="3888"/>
              </a:lnSpc>
              <a:buFont typeface="Arial"/>
              <a:buChar char="•"/>
            </a:pPr>
            <a:r>
              <a:rPr lang="en-US" sz="3600">
                <a:solidFill>
                  <a:srgbClr val="004AAD"/>
                </a:solidFill>
                <a:latin typeface="Circe Contrast"/>
                <a:ea typeface="Circe Contrast"/>
                <a:cs typeface="Circe Contrast"/>
                <a:sym typeface="Circe Contrast"/>
              </a:rPr>
              <a:t>1. Machine Learning (ML):</a:t>
            </a:r>
          </a:p>
          <a:p>
            <a:pPr algn="l" marL="651510" indent="-325755" lvl="1">
              <a:lnSpc>
                <a:spcPts val="3888"/>
              </a:lnSpc>
            </a:pPr>
            <a:r>
              <a:rPr lang="en-US" sz="3600">
                <a:solidFill>
                  <a:srgbClr val="004AAD"/>
                </a:solidFill>
                <a:latin typeface="Circe Contrast"/>
                <a:ea typeface="Circe Contrast"/>
                <a:cs typeface="Circe Contrast"/>
                <a:sym typeface="Circe Contrast"/>
              </a:rPr>
              <a:t>Algorithms that learn patterns from data to make predictions.</a:t>
            </a:r>
          </a:p>
          <a:p>
            <a:pPr algn="l" marL="651510" indent="-325755" lvl="1">
              <a:lnSpc>
                <a:spcPts val="3888"/>
              </a:lnSpc>
              <a:buFont typeface="Arial"/>
              <a:buChar char="•"/>
            </a:pPr>
            <a:r>
              <a:rPr lang="en-US" sz="3600">
                <a:solidFill>
                  <a:srgbClr val="004AAD"/>
                </a:solidFill>
                <a:latin typeface="Circe Contrast"/>
                <a:ea typeface="Circe Contrast"/>
                <a:cs typeface="Circe Contrast"/>
                <a:sym typeface="Circe Contrast"/>
              </a:rPr>
              <a:t>2. Deep Learning:</a:t>
            </a:r>
          </a:p>
          <a:p>
            <a:pPr algn="l" marL="651510" indent="-325755" lvl="1">
              <a:lnSpc>
                <a:spcPts val="3888"/>
              </a:lnSpc>
            </a:pPr>
            <a:r>
              <a:rPr lang="en-US" sz="3600">
                <a:solidFill>
                  <a:srgbClr val="004AAD"/>
                </a:solidFill>
                <a:latin typeface="Circe Contrast"/>
                <a:ea typeface="Circe Contrast"/>
                <a:cs typeface="Circe Contrast"/>
                <a:sym typeface="Circe Contrast"/>
              </a:rPr>
              <a:t>Advanced ML using neural networks inspired by the human brain.</a:t>
            </a:r>
          </a:p>
          <a:p>
            <a:pPr algn="l" marL="651510" indent="-325755" lvl="1">
              <a:lnSpc>
                <a:spcPts val="3888"/>
              </a:lnSpc>
              <a:buFont typeface="Arial"/>
              <a:buChar char="•"/>
            </a:pPr>
            <a:r>
              <a:rPr lang="en-US" sz="3600">
                <a:solidFill>
                  <a:srgbClr val="004AAD"/>
                </a:solidFill>
                <a:latin typeface="Circe Contrast"/>
                <a:ea typeface="Circe Contrast"/>
                <a:cs typeface="Circe Contrast"/>
                <a:sym typeface="Circe Contrast"/>
              </a:rPr>
              <a:t>3. Neural Networks:</a:t>
            </a:r>
          </a:p>
          <a:p>
            <a:pPr algn="l" marL="651510" indent="-325755" lvl="1">
              <a:lnSpc>
                <a:spcPts val="3888"/>
              </a:lnSpc>
            </a:pPr>
            <a:r>
              <a:rPr lang="en-US" sz="3600">
                <a:solidFill>
                  <a:srgbClr val="004AAD"/>
                </a:solidFill>
                <a:latin typeface="Circe Contrast"/>
                <a:ea typeface="Circe Contrast"/>
                <a:cs typeface="Circe Contrast"/>
                <a:sym typeface="Circe Contrast"/>
              </a:rPr>
              <a:t>Layers of interconnected nodes that learn complex patterns.</a:t>
            </a:r>
          </a:p>
          <a:p>
            <a:pPr algn="l" marL="651510" indent="-325755" lvl="1">
              <a:lnSpc>
                <a:spcPts val="3888"/>
              </a:lnSpc>
              <a:buFont typeface="Arial"/>
              <a:buChar char="•"/>
            </a:pPr>
            <a:r>
              <a:rPr lang="en-US" sz="3600">
                <a:solidFill>
                  <a:srgbClr val="004AAD"/>
                </a:solidFill>
                <a:latin typeface="Circe Contrast"/>
                <a:ea typeface="Circe Contrast"/>
                <a:cs typeface="Circe Contrast"/>
                <a:sym typeface="Circe Contrast"/>
              </a:rPr>
              <a:t>4. Natural Language Processing (NLP):</a:t>
            </a:r>
          </a:p>
          <a:p>
            <a:pPr algn="l" marL="651510" indent="-325755" lvl="1">
              <a:lnSpc>
                <a:spcPts val="3888"/>
              </a:lnSpc>
            </a:pPr>
            <a:r>
              <a:rPr lang="en-US" sz="3600">
                <a:solidFill>
                  <a:srgbClr val="004AAD"/>
                </a:solidFill>
                <a:latin typeface="Circe Contrast"/>
                <a:ea typeface="Circe Contrast"/>
                <a:cs typeface="Circe Contrast"/>
                <a:sym typeface="Circe Contrast"/>
              </a:rPr>
              <a:t>Allows machines to understand and generate human language.</a:t>
            </a:r>
          </a:p>
          <a:p>
            <a:pPr algn="l" marL="651510" indent="-325755" lvl="1">
              <a:lnSpc>
                <a:spcPts val="3888"/>
              </a:lnSpc>
              <a:buFont typeface="Arial"/>
              <a:buChar char="•"/>
            </a:pPr>
            <a:r>
              <a:rPr lang="en-US" sz="3600">
                <a:solidFill>
                  <a:srgbClr val="004AAD"/>
                </a:solidFill>
                <a:latin typeface="Circe Contrast"/>
                <a:ea typeface="Circe Contrast"/>
                <a:cs typeface="Circe Contrast"/>
                <a:sym typeface="Circe Contrast"/>
              </a:rPr>
              <a:t>5. Computer Vision:</a:t>
            </a:r>
          </a:p>
          <a:p>
            <a:pPr algn="l" marL="651510" indent="-325755" lvl="1">
              <a:lnSpc>
                <a:spcPts val="3888"/>
              </a:lnSpc>
            </a:pPr>
            <a:r>
              <a:rPr lang="en-US" sz="3600">
                <a:solidFill>
                  <a:srgbClr val="004AAD"/>
                </a:solidFill>
                <a:latin typeface="Circe Contrast"/>
                <a:ea typeface="Circe Contrast"/>
                <a:cs typeface="Circe Contrast"/>
                <a:sym typeface="Circe Contrast"/>
              </a:rPr>
              <a:t>Enables machines to “see” and interpret images and videos.</a:t>
            </a:r>
          </a:p>
          <a:p>
            <a:pPr algn="l" marL="651510" indent="-325755" lvl="1">
              <a:lnSpc>
                <a:spcPts val="3888"/>
              </a:lnSpc>
              <a:buFont typeface="Arial"/>
              <a:buChar char="•"/>
            </a:pPr>
            <a:r>
              <a:rPr lang="en-US" sz="3600">
                <a:solidFill>
                  <a:srgbClr val="004AAD"/>
                </a:solidFill>
                <a:latin typeface="Circe Contrast"/>
                <a:ea typeface="Circe Contrast"/>
                <a:cs typeface="Circe Contrast"/>
                <a:sym typeface="Circe Contrast"/>
              </a:rPr>
              <a:t>6. Reinforcement Learning:</a:t>
            </a:r>
          </a:p>
          <a:p>
            <a:pPr algn="l" marL="651510" indent="-325755" lvl="1">
              <a:lnSpc>
                <a:spcPts val="3888"/>
              </a:lnSpc>
            </a:pPr>
            <a:r>
              <a:rPr lang="en-US" sz="3600">
                <a:solidFill>
                  <a:srgbClr val="004AAD"/>
                </a:solidFill>
                <a:latin typeface="Circe Contrast"/>
                <a:ea typeface="Circe Contrast"/>
                <a:cs typeface="Circe Contrast"/>
                <a:sym typeface="Circe Contrast"/>
              </a:rPr>
              <a:t>Models learn through reward-based actions (used in robotics and gaming).</a:t>
            </a:r>
          </a:p>
          <a:p>
            <a:pPr algn="l" marL="651510" indent="-325755" lvl="1">
              <a:lnSpc>
                <a:spcPts val="3888"/>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21111" t="0" r="-21111" b="0"/>
            </a:stretch>
          </a:blipFill>
        </p:spPr>
      </p:sp>
      <p:grpSp>
        <p:nvGrpSpPr>
          <p:cNvPr name="Group 3" id="3"/>
          <p:cNvGrpSpPr/>
          <p:nvPr/>
        </p:nvGrpSpPr>
        <p:grpSpPr>
          <a:xfrm rot="0">
            <a:off x="1257300" y="547688"/>
            <a:ext cx="15773400" cy="1988345"/>
            <a:chOff x="0" y="0"/>
            <a:chExt cx="21031200" cy="2651126"/>
          </a:xfrm>
        </p:grpSpPr>
        <p:sp>
          <p:nvSpPr>
            <p:cNvPr name="Freeform 4" id="4"/>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solidFill>
              <a:srgbClr val="000000">
                <a:alpha val="0"/>
              </a:srgbClr>
            </a:solidFill>
          </p:spPr>
        </p:sp>
        <p:sp>
          <p:nvSpPr>
            <p:cNvPr name="TextBox 5" id="5"/>
            <p:cNvSpPr txBox="true"/>
            <p:nvPr/>
          </p:nvSpPr>
          <p:spPr>
            <a:xfrm>
              <a:off x="0" y="76200"/>
              <a:ext cx="21031200" cy="2574926"/>
            </a:xfrm>
            <a:prstGeom prst="rect">
              <a:avLst/>
            </a:prstGeom>
          </p:spPr>
          <p:txBody>
            <a:bodyPr anchor="ctr" rtlCol="false" tIns="0" lIns="0" bIns="0" rIns="0"/>
            <a:lstStyle/>
            <a:p>
              <a:pPr algn="l">
                <a:lnSpc>
                  <a:spcPts val="7128"/>
                </a:lnSpc>
              </a:pPr>
              <a:r>
                <a:rPr lang="en-US" b="true" sz="6600" spc="-40">
                  <a:solidFill>
                    <a:srgbClr val="1800AD"/>
                  </a:solidFill>
                  <a:latin typeface="Cinzel Decorative Bold"/>
                  <a:ea typeface="Cinzel Decorative Bold"/>
                  <a:cs typeface="Cinzel Decorative Bold"/>
                  <a:sym typeface="Cinzel Decorative Bold"/>
                </a:rPr>
                <a:t>Indian Use Case of AI</a:t>
              </a:r>
            </a:p>
          </p:txBody>
        </p:sp>
      </p:grpSp>
      <p:sp>
        <p:nvSpPr>
          <p:cNvPr name="TextBox 6" id="6"/>
          <p:cNvSpPr txBox="true"/>
          <p:nvPr/>
        </p:nvSpPr>
        <p:spPr>
          <a:xfrm rot="0">
            <a:off x="1348740" y="2879408"/>
            <a:ext cx="15590520" cy="6712915"/>
          </a:xfrm>
          <a:prstGeom prst="rect">
            <a:avLst/>
          </a:prstGeom>
        </p:spPr>
        <p:txBody>
          <a:bodyPr anchor="t" rtlCol="false" tIns="0" lIns="0" bIns="0" rIns="0">
            <a:spAutoFit/>
          </a:bodyPr>
          <a:lstStyle/>
          <a:p>
            <a:pPr algn="l" marL="760095" indent="-380048" lvl="1">
              <a:lnSpc>
                <a:spcPts val="4082"/>
              </a:lnSpc>
              <a:buFont typeface="Arial"/>
              <a:buChar char="•"/>
            </a:pPr>
            <a:r>
              <a:rPr lang="en-US" sz="4200">
                <a:solidFill>
                  <a:srgbClr val="004AAD"/>
                </a:solidFill>
                <a:latin typeface="Circe Contrast"/>
                <a:ea typeface="Circe Contrast"/>
                <a:cs typeface="Circe Contrast"/>
                <a:sym typeface="Circe Contrast"/>
              </a:rPr>
              <a:t>Qure.ai is an Indian company that uses AI to read medical scans like X-rays and CT scans.</a:t>
            </a:r>
          </a:p>
          <a:p>
            <a:pPr algn="l" marL="760095" indent="-380048" lvl="1">
              <a:lnSpc>
                <a:spcPts val="4082"/>
              </a:lnSpc>
              <a:buFont typeface="Arial"/>
              <a:buChar char="•"/>
            </a:pPr>
            <a:r>
              <a:rPr lang="en-US" sz="4200">
                <a:solidFill>
                  <a:srgbClr val="004AAD"/>
                </a:solidFill>
                <a:latin typeface="Circe Contrast"/>
                <a:ea typeface="Circe Contrast"/>
                <a:cs typeface="Circe Contrast"/>
                <a:sym typeface="Circe Contrast"/>
              </a:rPr>
              <a:t>Problem it solves:</a:t>
            </a:r>
          </a:p>
          <a:p>
            <a:pPr algn="l" marL="760095" indent="-380048" lvl="1">
              <a:lnSpc>
                <a:spcPts val="4082"/>
              </a:lnSpc>
            </a:pPr>
            <a:r>
              <a:rPr lang="en-US" sz="4200">
                <a:solidFill>
                  <a:srgbClr val="004AAD"/>
                </a:solidFill>
                <a:latin typeface="Circe Contrast"/>
                <a:ea typeface="Circe Contrast"/>
                <a:cs typeface="Circe Contrast"/>
                <a:sym typeface="Circe Contrast"/>
              </a:rPr>
              <a:t>India does not have enough radiologists, especially in rural areas, which causes delays in diagnosis.</a:t>
            </a:r>
          </a:p>
          <a:p>
            <a:pPr algn="l" marL="760095" indent="-380048" lvl="1">
              <a:lnSpc>
                <a:spcPts val="4082"/>
              </a:lnSpc>
              <a:buFont typeface="Arial"/>
              <a:buChar char="•"/>
            </a:pPr>
            <a:r>
              <a:rPr lang="en-US" sz="4200">
                <a:solidFill>
                  <a:srgbClr val="004AAD"/>
                </a:solidFill>
                <a:latin typeface="Circe Contrast"/>
                <a:ea typeface="Circe Contrast"/>
                <a:cs typeface="Circe Contrast"/>
                <a:sym typeface="Circe Contrast"/>
              </a:rPr>
              <a:t>How AI helps:</a:t>
            </a:r>
          </a:p>
          <a:p>
            <a:pPr algn="l" marL="760095" indent="-380048" lvl="1">
              <a:lnSpc>
                <a:spcPts val="4082"/>
              </a:lnSpc>
            </a:pPr>
            <a:r>
              <a:rPr lang="en-US" sz="4200">
                <a:solidFill>
                  <a:srgbClr val="004AAD"/>
                </a:solidFill>
                <a:latin typeface="Circe Contrast"/>
                <a:ea typeface="Circe Contrast"/>
                <a:cs typeface="Circe Contrast"/>
                <a:sym typeface="Circe Contrast"/>
              </a:rPr>
              <a:t>Qure.ai uses deep learning models to quickly detect problems such as tuberculosis or lung infections.</a:t>
            </a:r>
          </a:p>
          <a:p>
            <a:pPr algn="l" marL="760095" indent="-380048" lvl="1">
              <a:lnSpc>
                <a:spcPts val="4082"/>
              </a:lnSpc>
              <a:buFont typeface="Arial"/>
              <a:buChar char="•"/>
            </a:pPr>
            <a:r>
              <a:rPr lang="en-US" sz="4200">
                <a:solidFill>
                  <a:srgbClr val="004AAD"/>
                </a:solidFill>
                <a:latin typeface="Circe Contrast"/>
                <a:ea typeface="Circe Contrast"/>
                <a:cs typeface="Circe Contrast"/>
                <a:sym typeface="Circe Contrast"/>
              </a:rPr>
              <a:t>Impact:</a:t>
            </a:r>
          </a:p>
          <a:p>
            <a:pPr algn="l" marL="760095" indent="-380048" lvl="1">
              <a:lnSpc>
                <a:spcPts val="4082"/>
              </a:lnSpc>
            </a:pPr>
            <a:r>
              <a:rPr lang="en-US" sz="4200">
                <a:solidFill>
                  <a:srgbClr val="004AAD"/>
                </a:solidFill>
                <a:latin typeface="Circe Contrast"/>
                <a:ea typeface="Circe Contrast"/>
                <a:cs typeface="Circe Contrast"/>
                <a:sym typeface="Circe Contrast"/>
              </a:rPr>
              <a:t>It helps doctors make faster decisions, reduces errors, and supports healthcare in places where expert doctors are not available.</a:t>
            </a:r>
          </a:p>
          <a:p>
            <a:pPr algn="l" marL="760095" indent="-380048" lvl="1">
              <a:lnSpc>
                <a:spcPts val="4082"/>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21111" t="0" r="-21111" b="0"/>
            </a:stretch>
          </a:blipFill>
        </p:spPr>
      </p:sp>
      <p:grpSp>
        <p:nvGrpSpPr>
          <p:cNvPr name="Group 3" id="3"/>
          <p:cNvGrpSpPr/>
          <p:nvPr/>
        </p:nvGrpSpPr>
        <p:grpSpPr>
          <a:xfrm rot="0">
            <a:off x="1257300" y="547688"/>
            <a:ext cx="15773400" cy="1988345"/>
            <a:chOff x="0" y="0"/>
            <a:chExt cx="21031200" cy="2651126"/>
          </a:xfrm>
        </p:grpSpPr>
        <p:sp>
          <p:nvSpPr>
            <p:cNvPr name="Freeform 4" id="4"/>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solidFill>
              <a:srgbClr val="000000">
                <a:alpha val="0"/>
              </a:srgbClr>
            </a:solidFill>
          </p:spPr>
        </p:sp>
        <p:sp>
          <p:nvSpPr>
            <p:cNvPr name="TextBox 5" id="5"/>
            <p:cNvSpPr txBox="true"/>
            <p:nvPr/>
          </p:nvSpPr>
          <p:spPr>
            <a:xfrm>
              <a:off x="0" y="76200"/>
              <a:ext cx="21031200" cy="2574926"/>
            </a:xfrm>
            <a:prstGeom prst="rect">
              <a:avLst/>
            </a:prstGeom>
          </p:spPr>
          <p:txBody>
            <a:bodyPr anchor="ctr" rtlCol="false" tIns="0" lIns="0" bIns="0" rIns="0"/>
            <a:lstStyle/>
            <a:p>
              <a:pPr algn="l">
                <a:lnSpc>
                  <a:spcPts val="7128"/>
                </a:lnSpc>
              </a:pPr>
              <a:r>
                <a:rPr lang="en-US" b="true" sz="6600" spc="-40">
                  <a:solidFill>
                    <a:srgbClr val="1800AD"/>
                  </a:solidFill>
                  <a:latin typeface="Cinzel Decorative Bold"/>
                  <a:ea typeface="Cinzel Decorative Bold"/>
                  <a:cs typeface="Cinzel Decorative Bold"/>
                  <a:sym typeface="Cinzel Decorative Bold"/>
                </a:rPr>
                <a:t>Global Use Case of AI</a:t>
              </a:r>
            </a:p>
          </p:txBody>
        </p:sp>
      </p:grpSp>
      <p:sp>
        <p:nvSpPr>
          <p:cNvPr name="TextBox 6" id="6"/>
          <p:cNvSpPr txBox="true"/>
          <p:nvPr/>
        </p:nvSpPr>
        <p:spPr>
          <a:xfrm rot="0">
            <a:off x="1348740" y="2629376"/>
            <a:ext cx="15590520" cy="9731883"/>
          </a:xfrm>
          <a:prstGeom prst="rect">
            <a:avLst/>
          </a:prstGeom>
        </p:spPr>
        <p:txBody>
          <a:bodyPr anchor="t" rtlCol="false" tIns="0" lIns="0" bIns="0" rIns="0">
            <a:spAutoFit/>
          </a:bodyPr>
          <a:lstStyle/>
          <a:p>
            <a:pPr algn="l" marL="760095" indent="-380048" lvl="1">
              <a:lnSpc>
                <a:spcPts val="4536"/>
              </a:lnSpc>
              <a:buFont typeface="Arial"/>
              <a:buChar char="•"/>
            </a:pPr>
            <a:r>
              <a:rPr lang="en-US" sz="4200">
                <a:solidFill>
                  <a:srgbClr val="004AAD"/>
                </a:solidFill>
                <a:latin typeface="Circe Contrast"/>
                <a:ea typeface="Circe Contrast"/>
                <a:cs typeface="Circe Contrast"/>
                <a:sym typeface="Circe Contrast"/>
              </a:rPr>
              <a:t>Digital assistants: the application used by most people would be the digital assistants on our various pieces of technology. If you have a smartphone or laptop, you probably have and use digital assistant software to some degree.</a:t>
            </a:r>
          </a:p>
          <a:p>
            <a:pPr algn="l" marL="760095" indent="-380048" lvl="1">
              <a:lnSpc>
                <a:spcPts val="4536"/>
              </a:lnSpc>
              <a:buFont typeface="Arial"/>
              <a:buChar char="•"/>
            </a:pPr>
            <a:r>
              <a:rPr lang="en-US" sz="4200">
                <a:solidFill>
                  <a:srgbClr val="004AAD"/>
                </a:solidFill>
                <a:latin typeface="Circe Contrast"/>
                <a:ea typeface="Circe Contrast"/>
                <a:cs typeface="Circe Contrast"/>
                <a:sym typeface="Circe Contrast"/>
              </a:rPr>
              <a:t>Search engines : Search engine algorithms utilize AI to refine and show better results without the intervention of programmers.</a:t>
            </a:r>
          </a:p>
          <a:p>
            <a:pPr algn="l" marL="760095" indent="-380048" lvl="1">
              <a:lnSpc>
                <a:spcPts val="4536"/>
              </a:lnSpc>
              <a:buFont typeface="Arial"/>
              <a:buChar char="•"/>
            </a:pPr>
            <a:r>
              <a:rPr lang="en-US" sz="4200">
                <a:solidFill>
                  <a:srgbClr val="004AAD"/>
                </a:solidFill>
                <a:latin typeface="Circe Contrast"/>
                <a:ea typeface="Circe Contrast"/>
                <a:cs typeface="Circe Contrast"/>
                <a:sym typeface="Circe Contrast"/>
              </a:rPr>
              <a:t>Social media : All major social media platforms run off AI-powered algorithms which are designed to serve specific purposes.</a:t>
            </a:r>
          </a:p>
          <a:p>
            <a:pPr algn="l" marL="760095" indent="-380048" lvl="1">
              <a:lnSpc>
                <a:spcPts val="4536"/>
              </a:lnSpc>
              <a:buFont typeface="Arial"/>
              <a:buChar char="•"/>
            </a:pPr>
            <a:r>
              <a:rPr lang="en-US" sz="4200">
                <a:solidFill>
                  <a:srgbClr val="004AAD"/>
                </a:solidFill>
                <a:latin typeface="Circe Contrast"/>
                <a:ea typeface="Circe Contrast"/>
                <a:cs typeface="Circe Contrast"/>
                <a:sym typeface="Circe Contrast"/>
              </a:rPr>
              <a:t>Transportation and Navigation: Most major map software uses some kind of AI to interpret real-time traffic data and provide routes and ETAs.</a:t>
            </a:r>
          </a:p>
          <a:p>
            <a:pPr algn="l" marL="760095" indent="-380048" lvl="1">
              <a:lnSpc>
                <a:spcPts val="4536"/>
              </a:lnSpc>
            </a:pPr>
          </a:p>
          <a:p>
            <a:pPr algn="l" marL="760095" indent="-380048" lvl="1">
              <a:lnSpc>
                <a:spcPts val="4536"/>
              </a:lnSpc>
            </a:pPr>
          </a:p>
          <a:p>
            <a:pPr algn="l" marL="760095" indent="-380048" lvl="1">
              <a:lnSpc>
                <a:spcPts val="4536"/>
              </a:lnSpc>
            </a:pPr>
          </a:p>
          <a:p>
            <a:pPr algn="l" marL="760095" indent="-380048" lvl="1">
              <a:lnSpc>
                <a:spcPts val="4536"/>
              </a:lnSpc>
            </a:pPr>
          </a:p>
          <a:p>
            <a:pPr algn="l" marL="760095" indent="-380048" lvl="1">
              <a:lnSpc>
                <a:spcPts val="4536"/>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21111" t="0" r="-21111" b="0"/>
            </a:stretch>
          </a:blipFill>
        </p:spPr>
      </p:sp>
      <p:grpSp>
        <p:nvGrpSpPr>
          <p:cNvPr name="Group 3" id="3"/>
          <p:cNvGrpSpPr/>
          <p:nvPr/>
        </p:nvGrpSpPr>
        <p:grpSpPr>
          <a:xfrm rot="0">
            <a:off x="1257300" y="547688"/>
            <a:ext cx="15773400" cy="1988345"/>
            <a:chOff x="0" y="0"/>
            <a:chExt cx="21031200" cy="2651126"/>
          </a:xfrm>
        </p:grpSpPr>
        <p:sp>
          <p:nvSpPr>
            <p:cNvPr name="Freeform 4" id="4"/>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solidFill>
              <a:srgbClr val="000000">
                <a:alpha val="0"/>
              </a:srgbClr>
            </a:solidFill>
          </p:spPr>
        </p:sp>
        <p:sp>
          <p:nvSpPr>
            <p:cNvPr name="TextBox 5" id="5"/>
            <p:cNvSpPr txBox="true"/>
            <p:nvPr/>
          </p:nvSpPr>
          <p:spPr>
            <a:xfrm>
              <a:off x="0" y="76200"/>
              <a:ext cx="21031200" cy="2574926"/>
            </a:xfrm>
            <a:prstGeom prst="rect">
              <a:avLst/>
            </a:prstGeom>
          </p:spPr>
          <p:txBody>
            <a:bodyPr anchor="ctr" rtlCol="false" tIns="0" lIns="0" bIns="0" rIns="0"/>
            <a:lstStyle/>
            <a:p>
              <a:pPr algn="l">
                <a:lnSpc>
                  <a:spcPts val="7128"/>
                </a:lnSpc>
              </a:pPr>
              <a:r>
                <a:rPr lang="en-US" b="true" sz="6600" spc="-40">
                  <a:solidFill>
                    <a:srgbClr val="1800AD"/>
                  </a:solidFill>
                  <a:latin typeface="Cinzel Decorative Bold"/>
                  <a:ea typeface="Cinzel Decorative Bold"/>
                  <a:cs typeface="Cinzel Decorative Bold"/>
                  <a:sym typeface="Cinzel Decorative Bold"/>
                </a:rPr>
                <a:t>Career Opportunities in AI</a:t>
              </a:r>
            </a:p>
          </p:txBody>
        </p:sp>
      </p:grpSp>
      <p:sp>
        <p:nvSpPr>
          <p:cNvPr name="TextBox 6" id="6"/>
          <p:cNvSpPr txBox="true"/>
          <p:nvPr/>
        </p:nvSpPr>
        <p:spPr>
          <a:xfrm rot="0">
            <a:off x="1348740" y="2281504"/>
            <a:ext cx="15590520" cy="8005496"/>
          </a:xfrm>
          <a:prstGeom prst="rect">
            <a:avLst/>
          </a:prstGeom>
        </p:spPr>
        <p:txBody>
          <a:bodyPr anchor="t" rtlCol="false" tIns="0" lIns="0" bIns="0" rIns="0">
            <a:spAutoFit/>
          </a:bodyPr>
          <a:lstStyle/>
          <a:p>
            <a:pPr algn="l" marL="705804" indent="-352902" lvl="1">
              <a:lnSpc>
                <a:spcPts val="3369"/>
              </a:lnSpc>
              <a:buFont typeface="Arial"/>
              <a:buChar char="•"/>
            </a:pPr>
            <a:r>
              <a:rPr lang="en-US" sz="3900">
                <a:solidFill>
                  <a:srgbClr val="004AAD"/>
                </a:solidFill>
                <a:latin typeface="Circe Contrast"/>
                <a:ea typeface="Circe Contrast"/>
                <a:cs typeface="Circe Contrast"/>
                <a:sym typeface="Circe Contrast"/>
              </a:rPr>
              <a:t>Some common career roles in the AI field include:</a:t>
            </a:r>
          </a:p>
          <a:p>
            <a:pPr algn="l">
              <a:lnSpc>
                <a:spcPts val="3369"/>
              </a:lnSpc>
            </a:pPr>
          </a:p>
          <a:p>
            <a:pPr algn="l" marL="705804" indent="-352902" lvl="1">
              <a:lnSpc>
                <a:spcPts val="3369"/>
              </a:lnSpc>
              <a:buFont typeface="Arial"/>
              <a:buChar char="•"/>
            </a:pPr>
            <a:r>
              <a:rPr lang="en-US" sz="3900">
                <a:solidFill>
                  <a:srgbClr val="004AAD"/>
                </a:solidFill>
                <a:latin typeface="Circe Contrast"/>
                <a:ea typeface="Circe Contrast"/>
                <a:cs typeface="Circe Contrast"/>
                <a:sym typeface="Circe Contrast"/>
              </a:rPr>
              <a:t>AI Engineer</a:t>
            </a:r>
          </a:p>
          <a:p>
            <a:pPr algn="l">
              <a:lnSpc>
                <a:spcPts val="3369"/>
              </a:lnSpc>
            </a:pPr>
          </a:p>
          <a:p>
            <a:pPr algn="l" marL="705804" indent="-352902" lvl="1">
              <a:lnSpc>
                <a:spcPts val="3369"/>
              </a:lnSpc>
              <a:buFont typeface="Arial"/>
              <a:buChar char="•"/>
            </a:pPr>
            <a:r>
              <a:rPr lang="en-US" sz="3900">
                <a:solidFill>
                  <a:srgbClr val="004AAD"/>
                </a:solidFill>
                <a:latin typeface="Circe Contrast"/>
                <a:ea typeface="Circe Contrast"/>
                <a:cs typeface="Circe Contrast"/>
                <a:sym typeface="Circe Contrast"/>
              </a:rPr>
              <a:t>Machine Learning Engineer</a:t>
            </a:r>
          </a:p>
          <a:p>
            <a:pPr algn="l">
              <a:lnSpc>
                <a:spcPts val="3369"/>
              </a:lnSpc>
            </a:pPr>
          </a:p>
          <a:p>
            <a:pPr algn="l" marL="705804" indent="-352902" lvl="1">
              <a:lnSpc>
                <a:spcPts val="3369"/>
              </a:lnSpc>
              <a:buFont typeface="Arial"/>
              <a:buChar char="•"/>
            </a:pPr>
            <a:r>
              <a:rPr lang="en-US" sz="3900">
                <a:solidFill>
                  <a:srgbClr val="004AAD"/>
                </a:solidFill>
                <a:latin typeface="Circe Contrast"/>
                <a:ea typeface="Circe Contrast"/>
                <a:cs typeface="Circe Contrast"/>
                <a:sym typeface="Circe Contrast"/>
              </a:rPr>
              <a:t>Data Scientist</a:t>
            </a:r>
          </a:p>
          <a:p>
            <a:pPr algn="l">
              <a:lnSpc>
                <a:spcPts val="3369"/>
              </a:lnSpc>
            </a:pPr>
          </a:p>
          <a:p>
            <a:pPr algn="l" marL="705804" indent="-352902" lvl="1">
              <a:lnSpc>
                <a:spcPts val="3369"/>
              </a:lnSpc>
              <a:buFont typeface="Arial"/>
              <a:buChar char="•"/>
            </a:pPr>
            <a:r>
              <a:rPr lang="en-US" sz="3900">
                <a:solidFill>
                  <a:srgbClr val="004AAD"/>
                </a:solidFill>
                <a:latin typeface="Circe Contrast"/>
                <a:ea typeface="Circe Contrast"/>
                <a:cs typeface="Circe Contrast"/>
                <a:sym typeface="Circe Contrast"/>
              </a:rPr>
              <a:t>NLP Engineer</a:t>
            </a:r>
          </a:p>
          <a:p>
            <a:pPr algn="l">
              <a:lnSpc>
                <a:spcPts val="3369"/>
              </a:lnSpc>
            </a:pPr>
          </a:p>
          <a:p>
            <a:pPr algn="l" marL="705804" indent="-352902" lvl="1">
              <a:lnSpc>
                <a:spcPts val="3369"/>
              </a:lnSpc>
              <a:buFont typeface="Arial"/>
              <a:buChar char="•"/>
            </a:pPr>
            <a:r>
              <a:rPr lang="en-US" sz="3900">
                <a:solidFill>
                  <a:srgbClr val="004AAD"/>
                </a:solidFill>
                <a:latin typeface="Circe Contrast"/>
                <a:ea typeface="Circe Contrast"/>
                <a:cs typeface="Circe Contrast"/>
                <a:sym typeface="Circe Contrast"/>
              </a:rPr>
              <a:t>Computer Vision Engineer</a:t>
            </a:r>
          </a:p>
          <a:p>
            <a:pPr algn="l">
              <a:lnSpc>
                <a:spcPts val="3369"/>
              </a:lnSpc>
            </a:pPr>
          </a:p>
          <a:p>
            <a:pPr algn="l" marL="705804" indent="-352902" lvl="1">
              <a:lnSpc>
                <a:spcPts val="3369"/>
              </a:lnSpc>
              <a:buFont typeface="Arial"/>
              <a:buChar char="•"/>
            </a:pPr>
            <a:r>
              <a:rPr lang="en-US" sz="3900">
                <a:solidFill>
                  <a:srgbClr val="004AAD"/>
                </a:solidFill>
                <a:latin typeface="Circe Contrast"/>
                <a:ea typeface="Circe Contrast"/>
                <a:cs typeface="Circe Contrast"/>
                <a:sym typeface="Circe Contrast"/>
              </a:rPr>
              <a:t>Robotics Engineer</a:t>
            </a:r>
          </a:p>
          <a:p>
            <a:pPr algn="l">
              <a:lnSpc>
                <a:spcPts val="3369"/>
              </a:lnSpc>
            </a:pPr>
          </a:p>
          <a:p>
            <a:pPr algn="l" marL="705804" indent="-352902" lvl="1">
              <a:lnSpc>
                <a:spcPts val="3369"/>
              </a:lnSpc>
              <a:buFont typeface="Arial"/>
              <a:buChar char="•"/>
            </a:pPr>
            <a:r>
              <a:rPr lang="en-US" sz="3900">
                <a:solidFill>
                  <a:srgbClr val="004AAD"/>
                </a:solidFill>
                <a:latin typeface="Circe Contrast"/>
                <a:ea typeface="Circe Contrast"/>
                <a:cs typeface="Circe Contrast"/>
                <a:sym typeface="Circe Contrast"/>
              </a:rPr>
              <a:t>AI professionals are needed in many industries like healthcare, banking, education, e-commerce, transport, and manufacturing. As companies are becoming more data-driven, job opportunities in AI are increasing every year.</a:t>
            </a:r>
          </a:p>
          <a:p>
            <a:pPr algn="l" marL="705804" indent="-352902" lvl="1">
              <a:lnSpc>
                <a:spcPts val="336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21111" t="0" r="-21111" b="0"/>
            </a:stretch>
          </a:blipFill>
        </p:spPr>
      </p:sp>
      <p:grpSp>
        <p:nvGrpSpPr>
          <p:cNvPr name="Group 3" id="3"/>
          <p:cNvGrpSpPr/>
          <p:nvPr/>
        </p:nvGrpSpPr>
        <p:grpSpPr>
          <a:xfrm rot="0">
            <a:off x="1257300" y="547688"/>
            <a:ext cx="15773400" cy="1988345"/>
            <a:chOff x="0" y="0"/>
            <a:chExt cx="21031200" cy="2651126"/>
          </a:xfrm>
        </p:grpSpPr>
        <p:sp>
          <p:nvSpPr>
            <p:cNvPr name="Freeform 4" id="4"/>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solidFill>
              <a:srgbClr val="000000">
                <a:alpha val="0"/>
              </a:srgbClr>
            </a:solidFill>
          </p:spPr>
        </p:sp>
        <p:sp>
          <p:nvSpPr>
            <p:cNvPr name="TextBox 5" id="5"/>
            <p:cNvSpPr txBox="true"/>
            <p:nvPr/>
          </p:nvSpPr>
          <p:spPr>
            <a:xfrm>
              <a:off x="0" y="76200"/>
              <a:ext cx="21031200" cy="2574926"/>
            </a:xfrm>
            <a:prstGeom prst="rect">
              <a:avLst/>
            </a:prstGeom>
          </p:spPr>
          <p:txBody>
            <a:bodyPr anchor="ctr" rtlCol="false" tIns="0" lIns="0" bIns="0" rIns="0"/>
            <a:lstStyle/>
            <a:p>
              <a:pPr algn="l">
                <a:lnSpc>
                  <a:spcPts val="7128"/>
                </a:lnSpc>
              </a:pPr>
              <a:r>
                <a:rPr lang="en-US" b="true" sz="6600" spc="-40">
                  <a:solidFill>
                    <a:srgbClr val="1800AD"/>
                  </a:solidFill>
                  <a:latin typeface="Cinzel Decorative Bold"/>
                  <a:ea typeface="Cinzel Decorative Bold"/>
                  <a:cs typeface="Cinzel Decorative Bold"/>
                  <a:sym typeface="Cinzel Decorative Bold"/>
                </a:rPr>
                <a:t>Skills Required for AI</a:t>
              </a:r>
            </a:p>
          </p:txBody>
        </p:sp>
      </p:grpSp>
      <p:sp>
        <p:nvSpPr>
          <p:cNvPr name="TextBox 6" id="6"/>
          <p:cNvSpPr txBox="true"/>
          <p:nvPr/>
        </p:nvSpPr>
        <p:spPr>
          <a:xfrm rot="0">
            <a:off x="1348740" y="2917508"/>
            <a:ext cx="15590520" cy="6446672"/>
          </a:xfrm>
          <a:prstGeom prst="rect">
            <a:avLst/>
          </a:prstGeom>
        </p:spPr>
        <p:txBody>
          <a:bodyPr anchor="t" rtlCol="false" tIns="0" lIns="0" bIns="0" rIns="0">
            <a:spAutoFit/>
          </a:bodyPr>
          <a:lstStyle/>
          <a:p>
            <a:pPr algn="l" marL="760095" indent="-380048" lvl="1">
              <a:lnSpc>
                <a:spcPts val="3628"/>
              </a:lnSpc>
              <a:buFont typeface="Arial"/>
              <a:buChar char="•"/>
            </a:pPr>
            <a:r>
              <a:rPr lang="en-US" sz="4200">
                <a:solidFill>
                  <a:srgbClr val="004AAD"/>
                </a:solidFill>
                <a:latin typeface="Circe Contrast"/>
                <a:ea typeface="Circe Contrast"/>
                <a:cs typeface="Circe Contrast"/>
                <a:sym typeface="Circe Contrast"/>
              </a:rPr>
              <a:t>Technical skills needed:</a:t>
            </a:r>
          </a:p>
          <a:p>
            <a:pPr algn="l" marL="760095" indent="-380048" lvl="1">
              <a:lnSpc>
                <a:spcPts val="3628"/>
              </a:lnSpc>
              <a:buFont typeface="Arial"/>
              <a:buChar char="•"/>
            </a:pPr>
            <a:r>
              <a:rPr lang="en-US" sz="4200">
                <a:solidFill>
                  <a:srgbClr val="004AAD"/>
                </a:solidFill>
                <a:latin typeface="Circe Contrast"/>
                <a:ea typeface="Circe Contrast"/>
                <a:cs typeface="Circe Contrast"/>
                <a:sym typeface="Circe Contrast"/>
              </a:rPr>
              <a:t>Python programming</a:t>
            </a:r>
          </a:p>
          <a:p>
            <a:pPr algn="l" marL="760095" indent="-380048" lvl="1">
              <a:lnSpc>
                <a:spcPts val="3628"/>
              </a:lnSpc>
              <a:buFont typeface="Arial"/>
              <a:buChar char="•"/>
            </a:pPr>
            <a:r>
              <a:rPr lang="en-US" sz="4200">
                <a:solidFill>
                  <a:srgbClr val="004AAD"/>
                </a:solidFill>
                <a:latin typeface="Circe Contrast"/>
                <a:ea typeface="Circe Contrast"/>
                <a:cs typeface="Circe Contrast"/>
                <a:sym typeface="Circe Contrast"/>
              </a:rPr>
              <a:t>Basic maths like statistics and linear algebra</a:t>
            </a:r>
          </a:p>
          <a:p>
            <a:pPr algn="l" marL="760095" indent="-380048" lvl="1">
              <a:lnSpc>
                <a:spcPts val="3628"/>
              </a:lnSpc>
              <a:buFont typeface="Arial"/>
              <a:buChar char="•"/>
            </a:pPr>
            <a:r>
              <a:rPr lang="en-US" sz="4200">
                <a:solidFill>
                  <a:srgbClr val="004AAD"/>
                </a:solidFill>
                <a:latin typeface="Circe Contrast"/>
                <a:ea typeface="Circe Contrast"/>
                <a:cs typeface="Circe Contrast"/>
                <a:sym typeface="Circe Contrast"/>
              </a:rPr>
              <a:t>Machine learning algorithms</a:t>
            </a:r>
          </a:p>
          <a:p>
            <a:pPr algn="l" marL="760095" indent="-380048" lvl="1">
              <a:lnSpc>
                <a:spcPts val="3628"/>
              </a:lnSpc>
              <a:buFont typeface="Arial"/>
              <a:buChar char="•"/>
            </a:pPr>
            <a:r>
              <a:rPr lang="en-US" sz="4200">
                <a:solidFill>
                  <a:srgbClr val="004AAD"/>
                </a:solidFill>
                <a:latin typeface="Circe Contrast"/>
                <a:ea typeface="Circe Contrast"/>
                <a:cs typeface="Circe Contrast"/>
                <a:sym typeface="Circe Contrast"/>
              </a:rPr>
              <a:t>Deep learning concepts</a:t>
            </a:r>
          </a:p>
          <a:p>
            <a:pPr algn="l" marL="760095" indent="-380048" lvl="1">
              <a:lnSpc>
                <a:spcPts val="3628"/>
              </a:lnSpc>
              <a:buFont typeface="Arial"/>
              <a:buChar char="•"/>
            </a:pPr>
            <a:r>
              <a:rPr lang="en-US" sz="4200">
                <a:solidFill>
                  <a:srgbClr val="004AAD"/>
                </a:solidFill>
                <a:latin typeface="Circe Contrast"/>
                <a:ea typeface="Circe Contrast"/>
                <a:cs typeface="Circe Contrast"/>
                <a:sym typeface="Circe Contrast"/>
              </a:rPr>
              <a:t>Working with data (Pandas, NumPy)</a:t>
            </a:r>
          </a:p>
          <a:p>
            <a:pPr algn="l" marL="760095" indent="-380048" lvl="1">
              <a:lnSpc>
                <a:spcPts val="3628"/>
              </a:lnSpc>
              <a:buFont typeface="Arial"/>
              <a:buChar char="•"/>
            </a:pPr>
            <a:r>
              <a:rPr lang="en-US" sz="4200">
                <a:solidFill>
                  <a:srgbClr val="004AAD"/>
                </a:solidFill>
                <a:latin typeface="Circe Contrast"/>
                <a:ea typeface="Circe Contrast"/>
                <a:cs typeface="Circe Contrast"/>
                <a:sym typeface="Circe Contrast"/>
              </a:rPr>
              <a:t>Knowledge of tools like TensorFlow or PyTorch</a:t>
            </a:r>
          </a:p>
          <a:p>
            <a:pPr algn="l" marL="760095" indent="-380048" lvl="1">
              <a:lnSpc>
                <a:spcPts val="3628"/>
              </a:lnSpc>
              <a:buFont typeface="Arial"/>
              <a:buChar char="•"/>
            </a:pPr>
            <a:r>
              <a:rPr lang="en-US" sz="4200">
                <a:solidFill>
                  <a:srgbClr val="004AAD"/>
                </a:solidFill>
                <a:latin typeface="Circe Contrast"/>
                <a:ea typeface="Circe Contrast"/>
                <a:cs typeface="Circe Contrast"/>
                <a:sym typeface="Circe Contrast"/>
              </a:rPr>
              <a:t>Soft skills:</a:t>
            </a:r>
          </a:p>
          <a:p>
            <a:pPr algn="l" marL="760095" indent="-380048" lvl="1">
              <a:lnSpc>
                <a:spcPts val="3628"/>
              </a:lnSpc>
              <a:buFont typeface="Arial"/>
              <a:buChar char="•"/>
            </a:pPr>
            <a:r>
              <a:rPr lang="en-US" sz="4200">
                <a:solidFill>
                  <a:srgbClr val="004AAD"/>
                </a:solidFill>
                <a:latin typeface="Circe Contrast"/>
                <a:ea typeface="Circe Contrast"/>
                <a:cs typeface="Circe Contrast"/>
                <a:sym typeface="Circe Contrast"/>
              </a:rPr>
              <a:t>Problem-solving</a:t>
            </a:r>
          </a:p>
          <a:p>
            <a:pPr algn="l" marL="760095" indent="-380048" lvl="1">
              <a:lnSpc>
                <a:spcPts val="3628"/>
              </a:lnSpc>
              <a:buFont typeface="Arial"/>
              <a:buChar char="•"/>
            </a:pPr>
            <a:r>
              <a:rPr lang="en-US" sz="4200">
                <a:solidFill>
                  <a:srgbClr val="004AAD"/>
                </a:solidFill>
                <a:latin typeface="Circe Contrast"/>
                <a:ea typeface="Circe Contrast"/>
                <a:cs typeface="Circe Contrast"/>
                <a:sym typeface="Circe Contrast"/>
              </a:rPr>
              <a:t>Logical thinking</a:t>
            </a:r>
          </a:p>
          <a:p>
            <a:pPr algn="l" marL="760095" indent="-380048" lvl="1">
              <a:lnSpc>
                <a:spcPts val="3628"/>
              </a:lnSpc>
              <a:buFont typeface="Arial"/>
              <a:buChar char="•"/>
            </a:pPr>
            <a:r>
              <a:rPr lang="en-US" sz="4200">
                <a:solidFill>
                  <a:srgbClr val="004AAD"/>
                </a:solidFill>
                <a:latin typeface="Circe Contrast"/>
                <a:ea typeface="Circe Contrast"/>
                <a:cs typeface="Circe Contrast"/>
                <a:sym typeface="Circe Contrast"/>
              </a:rPr>
              <a:t>Patience and curiosity (because AI models take time to learn and improve)</a:t>
            </a:r>
          </a:p>
          <a:p>
            <a:pPr algn="l" marL="760095" indent="-380048" lvl="1">
              <a:lnSpc>
                <a:spcPts val="3628"/>
              </a:lnSpc>
            </a:pPr>
          </a:p>
          <a:p>
            <a:pPr algn="l" marL="760095" indent="-380048" lvl="1">
              <a:lnSpc>
                <a:spcPts val="3628"/>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21111" t="0" r="-21111" b="0"/>
            </a:stretch>
          </a:blipFill>
        </p:spPr>
      </p:sp>
      <p:grpSp>
        <p:nvGrpSpPr>
          <p:cNvPr name="Group 3" id="3"/>
          <p:cNvGrpSpPr/>
          <p:nvPr/>
        </p:nvGrpSpPr>
        <p:grpSpPr>
          <a:xfrm rot="0">
            <a:off x="1257300" y="368076"/>
            <a:ext cx="15773400" cy="1162675"/>
            <a:chOff x="0" y="0"/>
            <a:chExt cx="21031200" cy="1550233"/>
          </a:xfrm>
        </p:grpSpPr>
        <p:sp>
          <p:nvSpPr>
            <p:cNvPr name="Freeform 4" id="4"/>
            <p:cNvSpPr/>
            <p:nvPr/>
          </p:nvSpPr>
          <p:spPr>
            <a:xfrm flipH="false" flipV="false" rot="0">
              <a:off x="0" y="0"/>
              <a:ext cx="21031200" cy="1550233"/>
            </a:xfrm>
            <a:custGeom>
              <a:avLst/>
              <a:gdLst/>
              <a:ahLst/>
              <a:cxnLst/>
              <a:rect r="r" b="b" t="t" l="l"/>
              <a:pathLst>
                <a:path h="1550233" w="21031200">
                  <a:moveTo>
                    <a:pt x="0" y="0"/>
                  </a:moveTo>
                  <a:lnTo>
                    <a:pt x="21031200" y="0"/>
                  </a:lnTo>
                  <a:lnTo>
                    <a:pt x="21031200" y="1550233"/>
                  </a:lnTo>
                  <a:lnTo>
                    <a:pt x="0" y="1550233"/>
                  </a:lnTo>
                  <a:close/>
                </a:path>
              </a:pathLst>
            </a:custGeom>
            <a:solidFill>
              <a:srgbClr val="000000">
                <a:alpha val="0"/>
              </a:srgbClr>
            </a:solidFill>
          </p:spPr>
        </p:sp>
        <p:sp>
          <p:nvSpPr>
            <p:cNvPr name="TextBox 5" id="5"/>
            <p:cNvSpPr txBox="true"/>
            <p:nvPr/>
          </p:nvSpPr>
          <p:spPr>
            <a:xfrm>
              <a:off x="0" y="66675"/>
              <a:ext cx="21031200" cy="1483558"/>
            </a:xfrm>
            <a:prstGeom prst="rect">
              <a:avLst/>
            </a:prstGeom>
          </p:spPr>
          <p:txBody>
            <a:bodyPr anchor="ctr" rtlCol="false" tIns="0" lIns="0" bIns="0" rIns="0"/>
            <a:lstStyle/>
            <a:p>
              <a:pPr algn="l">
                <a:lnSpc>
                  <a:spcPts val="6415"/>
                </a:lnSpc>
              </a:pPr>
              <a:r>
                <a:rPr lang="en-US" b="true" sz="5940" spc="-36">
                  <a:solidFill>
                    <a:srgbClr val="1800AD"/>
                  </a:solidFill>
                  <a:latin typeface="Cinzel Decorative Bold"/>
                  <a:ea typeface="Cinzel Decorative Bold"/>
                  <a:cs typeface="Cinzel Decorative Bold"/>
                  <a:sym typeface="Cinzel Decorative Bold"/>
                </a:rPr>
                <a:t>Trends In AI</a:t>
              </a:r>
            </a:p>
          </p:txBody>
        </p:sp>
      </p:grpSp>
      <p:sp>
        <p:nvSpPr>
          <p:cNvPr name="TextBox 6" id="6"/>
          <p:cNvSpPr txBox="true"/>
          <p:nvPr/>
        </p:nvSpPr>
        <p:spPr>
          <a:xfrm rot="0">
            <a:off x="2120885" y="1530751"/>
            <a:ext cx="9962022" cy="9639300"/>
          </a:xfrm>
          <a:prstGeom prst="rect">
            <a:avLst/>
          </a:prstGeom>
        </p:spPr>
        <p:txBody>
          <a:bodyPr anchor="t" rtlCol="false" tIns="0" lIns="0" bIns="0" rIns="0">
            <a:spAutoFit/>
          </a:bodyPr>
          <a:lstStyle/>
          <a:p>
            <a:pPr algn="l" marL="626109" indent="-313054" lvl="1">
              <a:lnSpc>
                <a:spcPts val="3479"/>
              </a:lnSpc>
              <a:buAutoNum type="arabicPeriod" startAt="1"/>
            </a:pPr>
            <a:r>
              <a:rPr lang="en-US" sz="2899" u="sng">
                <a:solidFill>
                  <a:srgbClr val="004AAD"/>
                </a:solidFill>
                <a:latin typeface="Circe Contrast"/>
                <a:ea typeface="Circe Contrast"/>
                <a:cs typeface="Circe Contrast"/>
                <a:sym typeface="Circe Contrast"/>
              </a:rPr>
              <a:t>AI Agents &amp; Autonomous Systems</a:t>
            </a:r>
          </a:p>
          <a:p>
            <a:pPr algn="l" marL="1252218" indent="-417406" lvl="2">
              <a:lnSpc>
                <a:spcPts val="3479"/>
              </a:lnSpc>
              <a:buFont typeface="Arial"/>
              <a:buChar char="⚬"/>
            </a:pPr>
            <a:r>
              <a:rPr lang="en-US" sz="2899">
                <a:solidFill>
                  <a:srgbClr val="004AAD"/>
                </a:solidFill>
                <a:latin typeface="Circe Contrast"/>
                <a:ea typeface="Circe Contrast"/>
                <a:cs typeface="Circe Contrast"/>
                <a:sym typeface="Circe Contrast"/>
              </a:rPr>
              <a:t>AI systems act like “digital workers”</a:t>
            </a:r>
          </a:p>
          <a:p>
            <a:pPr algn="l" marL="1252218" indent="-417406" lvl="2">
              <a:lnSpc>
                <a:spcPts val="3479"/>
              </a:lnSpc>
              <a:buFont typeface="Arial"/>
              <a:buChar char="⚬"/>
            </a:pPr>
            <a:r>
              <a:rPr lang="en-US" sz="2899">
                <a:solidFill>
                  <a:srgbClr val="004AAD"/>
                </a:solidFill>
                <a:latin typeface="Circe Contrast"/>
                <a:ea typeface="Circe Contrast"/>
                <a:cs typeface="Circe Contrast"/>
                <a:sym typeface="Circe Contrast"/>
              </a:rPr>
              <a:t>Can plan and perform multi-step tasks</a:t>
            </a:r>
          </a:p>
          <a:p>
            <a:pPr algn="l" marL="1252218" indent="-417406" lvl="2">
              <a:lnSpc>
                <a:spcPts val="3479"/>
              </a:lnSpc>
              <a:buFont typeface="Arial"/>
              <a:buChar char="⚬"/>
            </a:pPr>
            <a:r>
              <a:rPr lang="en-US" sz="2899">
                <a:solidFill>
                  <a:srgbClr val="004AAD"/>
                </a:solidFill>
                <a:latin typeface="Circe Contrast"/>
                <a:ea typeface="Circe Contrast"/>
                <a:cs typeface="Circe Contrast"/>
                <a:sym typeface="Circe Contrast"/>
              </a:rPr>
              <a:t>Need minimal human involvement</a:t>
            </a:r>
          </a:p>
          <a:p>
            <a:pPr algn="l" marL="626109" indent="-313054" lvl="1">
              <a:lnSpc>
                <a:spcPts val="3479"/>
              </a:lnSpc>
              <a:buAutoNum type="arabicPeriod" startAt="1"/>
            </a:pPr>
            <a:r>
              <a:rPr lang="en-US" sz="2899" u="sng">
                <a:solidFill>
                  <a:srgbClr val="004AAD"/>
                </a:solidFill>
                <a:latin typeface="Circe Contrast"/>
                <a:ea typeface="Circe Contrast"/>
                <a:cs typeface="Circe Contrast"/>
                <a:sym typeface="Circe Contrast"/>
              </a:rPr>
              <a:t>Democratization of AI</a:t>
            </a:r>
          </a:p>
          <a:p>
            <a:pPr algn="l" marL="1252218" indent="-417406" lvl="2">
              <a:lnSpc>
                <a:spcPts val="3479"/>
              </a:lnSpc>
              <a:buFont typeface="Arial"/>
              <a:buChar char="⚬"/>
            </a:pPr>
            <a:r>
              <a:rPr lang="en-US" sz="2899">
                <a:solidFill>
                  <a:srgbClr val="004AAD"/>
                </a:solidFill>
                <a:latin typeface="Circe Contrast"/>
                <a:ea typeface="Circe Contrast"/>
                <a:cs typeface="Circe Contrast"/>
                <a:sym typeface="Circe Contrast"/>
              </a:rPr>
              <a:t>AI tools becoming easier for everyone</a:t>
            </a:r>
          </a:p>
          <a:p>
            <a:pPr algn="l" marL="1252218" indent="-417406" lvl="2">
              <a:lnSpc>
                <a:spcPts val="3479"/>
              </a:lnSpc>
              <a:buFont typeface="Arial"/>
              <a:buChar char="⚬"/>
            </a:pPr>
            <a:r>
              <a:rPr lang="en-US" sz="2899">
                <a:solidFill>
                  <a:srgbClr val="004AAD"/>
                </a:solidFill>
                <a:latin typeface="Circe Contrast"/>
                <a:ea typeface="Circe Contrast"/>
                <a:cs typeface="Circe Contrast"/>
                <a:sym typeface="Circe Contrast"/>
              </a:rPr>
              <a:t>Low-code/no-code platforms growing</a:t>
            </a:r>
          </a:p>
          <a:p>
            <a:pPr algn="l" marL="1252218" indent="-417406" lvl="2">
              <a:lnSpc>
                <a:spcPts val="3479"/>
              </a:lnSpc>
              <a:buFont typeface="Arial"/>
              <a:buChar char="⚬"/>
            </a:pPr>
            <a:r>
              <a:rPr lang="en-US" sz="2899">
                <a:solidFill>
                  <a:srgbClr val="004AAD"/>
                </a:solidFill>
                <a:latin typeface="Circe Contrast"/>
                <a:ea typeface="Circe Contrast"/>
                <a:cs typeface="Circe Contrast"/>
                <a:sym typeface="Circe Contrast"/>
              </a:rPr>
              <a:t>Small businesses can build/use AI easily</a:t>
            </a:r>
          </a:p>
          <a:p>
            <a:pPr algn="l" marL="626109" indent="-313054" lvl="1">
              <a:lnSpc>
                <a:spcPts val="3479"/>
              </a:lnSpc>
              <a:buAutoNum type="arabicPeriod" startAt="1"/>
            </a:pPr>
            <a:r>
              <a:rPr lang="en-US" sz="2899" u="sng">
                <a:solidFill>
                  <a:srgbClr val="004AAD"/>
                </a:solidFill>
                <a:latin typeface="Circe Contrast"/>
                <a:ea typeface="Circe Contrast"/>
                <a:cs typeface="Circe Contrast"/>
                <a:sym typeface="Circe Contrast"/>
              </a:rPr>
              <a:t>AI in Scientific Research</a:t>
            </a:r>
          </a:p>
          <a:p>
            <a:pPr algn="l" marL="1252218" indent="-417406" lvl="2">
              <a:lnSpc>
                <a:spcPts val="3479"/>
              </a:lnSpc>
              <a:buFont typeface="Arial"/>
              <a:buChar char="⚬"/>
            </a:pPr>
            <a:r>
              <a:rPr lang="en-US" sz="2899">
                <a:solidFill>
                  <a:srgbClr val="004AAD"/>
                </a:solidFill>
                <a:latin typeface="Circe Contrast"/>
                <a:ea typeface="Circe Contrast"/>
                <a:cs typeface="Circe Contrast"/>
                <a:sym typeface="Circe Contrast"/>
              </a:rPr>
              <a:t>Analyzes large and complex data</a:t>
            </a:r>
          </a:p>
          <a:p>
            <a:pPr algn="l" marL="1252218" indent="-417406" lvl="2">
              <a:lnSpc>
                <a:spcPts val="3479"/>
              </a:lnSpc>
              <a:buFont typeface="Arial"/>
              <a:buChar char="⚬"/>
            </a:pPr>
            <a:r>
              <a:rPr lang="en-US" sz="2899">
                <a:solidFill>
                  <a:srgbClr val="004AAD"/>
                </a:solidFill>
                <a:latin typeface="Circe Contrast"/>
                <a:ea typeface="Circe Contrast"/>
                <a:cs typeface="Circe Contrast"/>
                <a:sym typeface="Circe Contrast"/>
              </a:rPr>
              <a:t>Speeds up discoveries in medicine &amp; science</a:t>
            </a:r>
          </a:p>
          <a:p>
            <a:pPr algn="l" marL="1252218" indent="-417406" lvl="2">
              <a:lnSpc>
                <a:spcPts val="3479"/>
              </a:lnSpc>
              <a:buFont typeface="Arial"/>
              <a:buChar char="⚬"/>
            </a:pPr>
            <a:r>
              <a:rPr lang="en-US" sz="2899">
                <a:solidFill>
                  <a:srgbClr val="004AAD"/>
                </a:solidFill>
                <a:latin typeface="Circe Contrast"/>
                <a:ea typeface="Circe Contrast"/>
                <a:cs typeface="Circe Contrast"/>
                <a:sym typeface="Circe Contrast"/>
              </a:rPr>
              <a:t>Helps in drug discovery and personalized treatments</a:t>
            </a:r>
          </a:p>
          <a:p>
            <a:pPr algn="l" marL="626109" indent="-313054" lvl="1">
              <a:lnSpc>
                <a:spcPts val="3479"/>
              </a:lnSpc>
              <a:buAutoNum type="arabicPeriod" startAt="1"/>
            </a:pPr>
            <a:r>
              <a:rPr lang="en-US" sz="2899" u="sng">
                <a:solidFill>
                  <a:srgbClr val="004AAD"/>
                </a:solidFill>
                <a:latin typeface="Circe Contrast"/>
                <a:ea typeface="Circe Contrast"/>
                <a:cs typeface="Circe Contrast"/>
                <a:sym typeface="Circe Contrast"/>
              </a:rPr>
              <a:t>Human–AI Collaboration</a:t>
            </a:r>
          </a:p>
          <a:p>
            <a:pPr algn="l" marL="1252218" indent="-417406" lvl="2">
              <a:lnSpc>
                <a:spcPts val="3479"/>
              </a:lnSpc>
              <a:buFont typeface="Arial"/>
              <a:buChar char="⚬"/>
            </a:pPr>
            <a:r>
              <a:rPr lang="en-US" sz="2899">
                <a:solidFill>
                  <a:srgbClr val="004AAD"/>
                </a:solidFill>
                <a:latin typeface="Circe Contrast"/>
                <a:ea typeface="Circe Contrast"/>
                <a:cs typeface="Circe Contrast"/>
                <a:sym typeface="Circe Contrast"/>
              </a:rPr>
              <a:t>AI supports humans instead of replacing them</a:t>
            </a:r>
          </a:p>
          <a:p>
            <a:pPr algn="l" marL="1252218" indent="-417406" lvl="2">
              <a:lnSpc>
                <a:spcPts val="3479"/>
              </a:lnSpc>
              <a:buFont typeface="Arial"/>
              <a:buChar char="⚬"/>
            </a:pPr>
            <a:r>
              <a:rPr lang="en-US" sz="2899">
                <a:solidFill>
                  <a:srgbClr val="004AAD"/>
                </a:solidFill>
                <a:latin typeface="Circe Contrast"/>
                <a:ea typeface="Circe Contrast"/>
                <a:cs typeface="Circe Contrast"/>
                <a:sym typeface="Circe Contrast"/>
              </a:rPr>
              <a:t>Improves decision-making and productivity</a:t>
            </a:r>
          </a:p>
          <a:p>
            <a:pPr algn="l" marL="1252218" indent="-417406" lvl="2">
              <a:lnSpc>
                <a:spcPts val="3479"/>
              </a:lnSpc>
              <a:buFont typeface="Arial"/>
              <a:buChar char="⚬"/>
            </a:pPr>
            <a:r>
              <a:rPr lang="en-US" sz="2899">
                <a:solidFill>
                  <a:srgbClr val="004AAD"/>
                </a:solidFill>
                <a:latin typeface="Circe Contrast"/>
                <a:ea typeface="Circe Contrast"/>
                <a:cs typeface="Circe Contrast"/>
                <a:sym typeface="Circe Contrast"/>
              </a:rPr>
              <a:t>Enhances human skills and capabilities</a:t>
            </a:r>
          </a:p>
          <a:p>
            <a:pPr algn="l" marL="626109" indent="-313054" lvl="1">
              <a:lnSpc>
                <a:spcPts val="3479"/>
              </a:lnSpc>
              <a:buAutoNum type="arabicPeriod" startAt="1"/>
            </a:pPr>
            <a:r>
              <a:rPr lang="en-US" sz="2899" u="sng">
                <a:solidFill>
                  <a:srgbClr val="004AAD"/>
                </a:solidFill>
                <a:latin typeface="Circe Contrast"/>
                <a:ea typeface="Circe Contrast"/>
                <a:cs typeface="Circe Contrast"/>
                <a:sym typeface="Circe Contrast"/>
              </a:rPr>
              <a:t>Regulation &amp; Ethical Governance</a:t>
            </a:r>
          </a:p>
          <a:p>
            <a:pPr algn="l" marL="1252218" indent="-417406" lvl="2">
              <a:lnSpc>
                <a:spcPts val="3479"/>
              </a:lnSpc>
              <a:buFont typeface="Arial"/>
              <a:buChar char="⚬"/>
            </a:pPr>
            <a:r>
              <a:rPr lang="en-US" sz="2899">
                <a:solidFill>
                  <a:srgbClr val="004AAD"/>
                </a:solidFill>
                <a:latin typeface="Circe Contrast"/>
                <a:ea typeface="Circe Contrast"/>
                <a:cs typeface="Circe Contrast"/>
                <a:sym typeface="Circe Contrast"/>
              </a:rPr>
              <a:t>More rules around safe AI use</a:t>
            </a:r>
          </a:p>
          <a:p>
            <a:pPr algn="l" marL="1252218" indent="-417406" lvl="2">
              <a:lnSpc>
                <a:spcPts val="3479"/>
              </a:lnSpc>
              <a:buFont typeface="Arial"/>
              <a:buChar char="⚬"/>
            </a:pPr>
            <a:r>
              <a:rPr lang="en-US" sz="2899">
                <a:solidFill>
                  <a:srgbClr val="004AAD"/>
                </a:solidFill>
                <a:latin typeface="Circe Contrast"/>
                <a:ea typeface="Circe Contrast"/>
                <a:cs typeface="Circe Contrast"/>
                <a:sym typeface="Circe Contrast"/>
              </a:rPr>
              <a:t>Focus on privacy, bias, and misinformation</a:t>
            </a:r>
          </a:p>
          <a:p>
            <a:pPr algn="l" marL="1252218" indent="-417406" lvl="2">
              <a:lnSpc>
                <a:spcPts val="3479"/>
              </a:lnSpc>
              <a:buFont typeface="Arial"/>
              <a:buChar char="⚬"/>
            </a:pPr>
            <a:r>
              <a:rPr lang="en-US" sz="2899">
                <a:solidFill>
                  <a:srgbClr val="004AAD"/>
                </a:solidFill>
                <a:latin typeface="Circe Contrast"/>
                <a:ea typeface="Circe Contrast"/>
                <a:cs typeface="Circe Contrast"/>
                <a:sym typeface="Circe Contrast"/>
              </a:rPr>
              <a:t>Ensures responsible development</a:t>
            </a:r>
          </a:p>
          <a:p>
            <a:pPr algn="l" marL="524827" indent="-262413" lvl="1">
              <a:lnSpc>
                <a:spcPts val="3479"/>
              </a:lnSpc>
            </a:pPr>
          </a:p>
          <a:p>
            <a:pPr algn="l" marL="524827" indent="-262413" lvl="1">
              <a:lnSpc>
                <a:spcPts val="347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21111" t="0" r="-21111" b="0"/>
            </a:stretch>
          </a:blipFill>
        </p:spPr>
      </p:sp>
      <p:grpSp>
        <p:nvGrpSpPr>
          <p:cNvPr name="Group 3" id="3"/>
          <p:cNvGrpSpPr/>
          <p:nvPr/>
        </p:nvGrpSpPr>
        <p:grpSpPr>
          <a:xfrm rot="0">
            <a:off x="2516845" y="3427725"/>
            <a:ext cx="8771365" cy="3431549"/>
            <a:chOff x="0" y="0"/>
            <a:chExt cx="11656452" cy="4560258"/>
          </a:xfrm>
        </p:grpSpPr>
        <p:sp>
          <p:nvSpPr>
            <p:cNvPr name="Freeform 4" id="4"/>
            <p:cNvSpPr/>
            <p:nvPr/>
          </p:nvSpPr>
          <p:spPr>
            <a:xfrm flipH="false" flipV="false" rot="0">
              <a:off x="0" y="0"/>
              <a:ext cx="11656452" cy="4560258"/>
            </a:xfrm>
            <a:custGeom>
              <a:avLst/>
              <a:gdLst/>
              <a:ahLst/>
              <a:cxnLst/>
              <a:rect r="r" b="b" t="t" l="l"/>
              <a:pathLst>
                <a:path h="4560258" w="11656452">
                  <a:moveTo>
                    <a:pt x="0" y="0"/>
                  </a:moveTo>
                  <a:lnTo>
                    <a:pt x="11656452" y="0"/>
                  </a:lnTo>
                  <a:lnTo>
                    <a:pt x="11656452" y="4560258"/>
                  </a:lnTo>
                  <a:lnTo>
                    <a:pt x="0" y="4560258"/>
                  </a:lnTo>
                  <a:close/>
                </a:path>
              </a:pathLst>
            </a:custGeom>
            <a:solidFill>
              <a:srgbClr val="000000">
                <a:alpha val="0"/>
              </a:srgbClr>
            </a:solidFill>
          </p:spPr>
        </p:sp>
        <p:sp>
          <p:nvSpPr>
            <p:cNvPr name="TextBox 5" id="5"/>
            <p:cNvSpPr txBox="true"/>
            <p:nvPr/>
          </p:nvSpPr>
          <p:spPr>
            <a:xfrm>
              <a:off x="0" y="114300"/>
              <a:ext cx="11656452" cy="4445958"/>
            </a:xfrm>
            <a:prstGeom prst="rect">
              <a:avLst/>
            </a:prstGeom>
          </p:spPr>
          <p:txBody>
            <a:bodyPr anchor="ctr" rtlCol="false" tIns="0" lIns="0" bIns="0" rIns="0"/>
            <a:lstStyle/>
            <a:p>
              <a:pPr algn="l">
                <a:lnSpc>
                  <a:spcPts val="11123"/>
                </a:lnSpc>
              </a:pPr>
              <a:r>
                <a:rPr lang="en-US" b="true" sz="10299" spc="-62" u="sng">
                  <a:solidFill>
                    <a:srgbClr val="1800AD"/>
                  </a:solidFill>
                  <a:latin typeface="Cinzel Decorative Bold"/>
                  <a:ea typeface="Cinzel Decorative Bold"/>
                  <a:cs typeface="Cinzel Decorative Bold"/>
                  <a:sym typeface="Cinzel Decorative Bold"/>
                </a:rPr>
                <a:t>Thank You</a:t>
              </a:r>
            </a:p>
            <a:p>
              <a:pPr algn="l">
                <a:lnSpc>
                  <a:spcPts val="11123"/>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DAG5ZVrXVx4</dc:identifier>
  <dcterms:modified xsi:type="dcterms:W3CDTF">2011-08-01T06:04:30Z</dcterms:modified>
  <cp:revision>1</cp:revision>
  <dc:title>CSF Assignment-3.pptx</dc:title>
</cp:coreProperties>
</file>